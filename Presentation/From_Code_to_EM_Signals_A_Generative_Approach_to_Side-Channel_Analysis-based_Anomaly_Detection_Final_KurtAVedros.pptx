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29"/>
  </p:notesMasterIdLst>
  <p:sldIdLst>
    <p:sldId id="256" r:id="rId3"/>
    <p:sldId id="379" r:id="rId4"/>
    <p:sldId id="259" r:id="rId5"/>
    <p:sldId id="300" r:id="rId6"/>
    <p:sldId id="358" r:id="rId7"/>
    <p:sldId id="359" r:id="rId8"/>
    <p:sldId id="360" r:id="rId9"/>
    <p:sldId id="361" r:id="rId10"/>
    <p:sldId id="318" r:id="rId11"/>
    <p:sldId id="317" r:id="rId12"/>
    <p:sldId id="319" r:id="rId13"/>
    <p:sldId id="385" r:id="rId14"/>
    <p:sldId id="320" r:id="rId15"/>
    <p:sldId id="321" r:id="rId16"/>
    <p:sldId id="322" r:id="rId17"/>
    <p:sldId id="381" r:id="rId18"/>
    <p:sldId id="386" r:id="rId19"/>
    <p:sldId id="323" r:id="rId20"/>
    <p:sldId id="329" r:id="rId21"/>
    <p:sldId id="325" r:id="rId22"/>
    <p:sldId id="382" r:id="rId23"/>
    <p:sldId id="383" r:id="rId24"/>
    <p:sldId id="384" r:id="rId25"/>
    <p:sldId id="328" r:id="rId26"/>
    <p:sldId id="362" r:id="rId27"/>
    <p:sldId id="283" r:id="rId28"/>
  </p:sldIdLst>
  <p:sldSz cx="24385588" cy="13717588"/>
  <p:notesSz cx="7102475" cy="9388475"/>
  <p:embeddedFontLst>
    <p:embeddedFont>
      <p:font typeface="Archivo" panose="020B0604020202020204" charset="0"/>
      <p:regular r:id="rId30"/>
      <p:bold r:id="rId31"/>
      <p:italic r:id="rId32"/>
      <p:boldItalic r:id="rId33"/>
    </p:embeddedFont>
    <p:embeddedFont>
      <p:font typeface="Franklin Gothic" panose="020B0604020202020204" charset="0"/>
      <p:bold r:id="rId34"/>
    </p:embeddedFont>
    <p:embeddedFont>
      <p:font typeface="Libre Franklin" pitchFamily="2" charset="0"/>
      <p:regular r:id="rId35"/>
      <p:bold r:id="rId36"/>
      <p:italic r:id="rId37"/>
      <p:boldItalic r:id="rId38"/>
    </p:embeddedFont>
    <p:embeddedFont>
      <p:font typeface="Proxima Nova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ja0oBbD+W9o/ohbpyG7k3dz/J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87" autoAdjust="0"/>
  </p:normalViewPr>
  <p:slideViewPr>
    <p:cSldViewPr snapToGrid="0">
      <p:cViewPr varScale="1">
        <p:scale>
          <a:sx n="30" d="100"/>
          <a:sy n="30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89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90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9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V" userId="86d32251763ade23" providerId="LiveId" clId="{4A0D9D80-10C0-47FC-9240-A51847643FE1}"/>
    <pc:docChg chg="modSld">
      <pc:chgData name="K V" userId="86d32251763ade23" providerId="LiveId" clId="{4A0D9D80-10C0-47FC-9240-A51847643FE1}" dt="2024-09-26T22:07:10.701" v="25" actId="20577"/>
      <pc:docMkLst>
        <pc:docMk/>
      </pc:docMkLst>
      <pc:sldChg chg="modNotesTx">
        <pc:chgData name="K V" userId="86d32251763ade23" providerId="LiveId" clId="{4A0D9D80-10C0-47FC-9240-A51847643FE1}" dt="2024-09-26T22:06:13.777" v="0" actId="20577"/>
        <pc:sldMkLst>
          <pc:docMk/>
          <pc:sldMk cId="0" sldId="256"/>
        </pc:sldMkLst>
      </pc:sldChg>
      <pc:sldChg chg="modNotesTx">
        <pc:chgData name="K V" userId="86d32251763ade23" providerId="LiveId" clId="{4A0D9D80-10C0-47FC-9240-A51847643FE1}" dt="2024-09-26T22:06:18.187" v="2" actId="20577"/>
        <pc:sldMkLst>
          <pc:docMk/>
          <pc:sldMk cId="0" sldId="259"/>
        </pc:sldMkLst>
      </pc:sldChg>
      <pc:sldChg chg="modNotesTx">
        <pc:chgData name="K V" userId="86d32251763ade23" providerId="LiveId" clId="{4A0D9D80-10C0-47FC-9240-A51847643FE1}" dt="2024-09-26T22:07:10.701" v="25" actId="20577"/>
        <pc:sldMkLst>
          <pc:docMk/>
          <pc:sldMk cId="0" sldId="283"/>
        </pc:sldMkLst>
      </pc:sldChg>
      <pc:sldChg chg="modNotesTx">
        <pc:chgData name="K V" userId="86d32251763ade23" providerId="LiveId" clId="{4A0D9D80-10C0-47FC-9240-A51847643FE1}" dt="2024-09-26T22:06:20.276" v="3" actId="20577"/>
        <pc:sldMkLst>
          <pc:docMk/>
          <pc:sldMk cId="1631736209" sldId="300"/>
        </pc:sldMkLst>
      </pc:sldChg>
      <pc:sldChg chg="modNotesTx">
        <pc:chgData name="K V" userId="86d32251763ade23" providerId="LiveId" clId="{4A0D9D80-10C0-47FC-9240-A51847643FE1}" dt="2024-09-26T22:06:34.743" v="9" actId="20577"/>
        <pc:sldMkLst>
          <pc:docMk/>
          <pc:sldMk cId="301214695" sldId="317"/>
        </pc:sldMkLst>
      </pc:sldChg>
      <pc:sldChg chg="modNotesTx">
        <pc:chgData name="K V" userId="86d32251763ade23" providerId="LiveId" clId="{4A0D9D80-10C0-47FC-9240-A51847643FE1}" dt="2024-09-26T22:06:32.134" v="8" actId="20577"/>
        <pc:sldMkLst>
          <pc:docMk/>
          <pc:sldMk cId="4143584495" sldId="318"/>
        </pc:sldMkLst>
      </pc:sldChg>
      <pc:sldChg chg="modNotesTx">
        <pc:chgData name="K V" userId="86d32251763ade23" providerId="LiveId" clId="{4A0D9D80-10C0-47FC-9240-A51847643FE1}" dt="2024-09-26T22:06:36.978" v="10" actId="20577"/>
        <pc:sldMkLst>
          <pc:docMk/>
          <pc:sldMk cId="2220192534" sldId="319"/>
        </pc:sldMkLst>
      </pc:sldChg>
      <pc:sldChg chg="modNotesTx">
        <pc:chgData name="K V" userId="86d32251763ade23" providerId="LiveId" clId="{4A0D9D80-10C0-47FC-9240-A51847643FE1}" dt="2024-09-26T22:06:41.504" v="12" actId="20577"/>
        <pc:sldMkLst>
          <pc:docMk/>
          <pc:sldMk cId="1241171156" sldId="320"/>
        </pc:sldMkLst>
      </pc:sldChg>
      <pc:sldChg chg="modNotesTx">
        <pc:chgData name="K V" userId="86d32251763ade23" providerId="LiveId" clId="{4A0D9D80-10C0-47FC-9240-A51847643FE1}" dt="2024-09-26T22:06:43.715" v="13" actId="20577"/>
        <pc:sldMkLst>
          <pc:docMk/>
          <pc:sldMk cId="761459314" sldId="321"/>
        </pc:sldMkLst>
      </pc:sldChg>
      <pc:sldChg chg="modNotesTx">
        <pc:chgData name="K V" userId="86d32251763ade23" providerId="LiveId" clId="{4A0D9D80-10C0-47FC-9240-A51847643FE1}" dt="2024-09-26T22:06:45.734" v="14" actId="20577"/>
        <pc:sldMkLst>
          <pc:docMk/>
          <pc:sldMk cId="984031217" sldId="322"/>
        </pc:sldMkLst>
      </pc:sldChg>
      <pc:sldChg chg="modNotesTx">
        <pc:chgData name="K V" userId="86d32251763ade23" providerId="LiveId" clId="{4A0D9D80-10C0-47FC-9240-A51847643FE1}" dt="2024-09-26T22:06:52.948" v="17" actId="20577"/>
        <pc:sldMkLst>
          <pc:docMk/>
          <pc:sldMk cId="1280084647" sldId="323"/>
        </pc:sldMkLst>
      </pc:sldChg>
      <pc:sldChg chg="modNotesTx">
        <pc:chgData name="K V" userId="86d32251763ade23" providerId="LiveId" clId="{4A0D9D80-10C0-47FC-9240-A51847643FE1}" dt="2024-09-26T22:06:57.077" v="19" actId="20577"/>
        <pc:sldMkLst>
          <pc:docMk/>
          <pc:sldMk cId="3803017251" sldId="325"/>
        </pc:sldMkLst>
      </pc:sldChg>
      <pc:sldChg chg="modNotesTx">
        <pc:chgData name="K V" userId="86d32251763ade23" providerId="LiveId" clId="{4A0D9D80-10C0-47FC-9240-A51847643FE1}" dt="2024-09-26T22:07:05.339" v="23" actId="20577"/>
        <pc:sldMkLst>
          <pc:docMk/>
          <pc:sldMk cId="4158393753" sldId="328"/>
        </pc:sldMkLst>
      </pc:sldChg>
      <pc:sldChg chg="modNotesTx">
        <pc:chgData name="K V" userId="86d32251763ade23" providerId="LiveId" clId="{4A0D9D80-10C0-47FC-9240-A51847643FE1}" dt="2024-09-26T22:06:54.969" v="18" actId="20577"/>
        <pc:sldMkLst>
          <pc:docMk/>
          <pc:sldMk cId="219833268" sldId="329"/>
        </pc:sldMkLst>
      </pc:sldChg>
      <pc:sldChg chg="modNotesTx">
        <pc:chgData name="K V" userId="86d32251763ade23" providerId="LiveId" clId="{4A0D9D80-10C0-47FC-9240-A51847643FE1}" dt="2024-09-26T22:06:22.173" v="4" actId="20577"/>
        <pc:sldMkLst>
          <pc:docMk/>
          <pc:sldMk cId="3998114092" sldId="358"/>
        </pc:sldMkLst>
      </pc:sldChg>
      <pc:sldChg chg="modNotesTx">
        <pc:chgData name="K V" userId="86d32251763ade23" providerId="LiveId" clId="{4A0D9D80-10C0-47FC-9240-A51847643FE1}" dt="2024-09-26T22:06:25.273" v="5" actId="20577"/>
        <pc:sldMkLst>
          <pc:docMk/>
          <pc:sldMk cId="4250681303" sldId="359"/>
        </pc:sldMkLst>
      </pc:sldChg>
      <pc:sldChg chg="modNotesTx">
        <pc:chgData name="K V" userId="86d32251763ade23" providerId="LiveId" clId="{4A0D9D80-10C0-47FC-9240-A51847643FE1}" dt="2024-09-26T22:06:27.321" v="6" actId="20577"/>
        <pc:sldMkLst>
          <pc:docMk/>
          <pc:sldMk cId="3503172863" sldId="360"/>
        </pc:sldMkLst>
      </pc:sldChg>
      <pc:sldChg chg="modNotesTx">
        <pc:chgData name="K V" userId="86d32251763ade23" providerId="LiveId" clId="{4A0D9D80-10C0-47FC-9240-A51847643FE1}" dt="2024-09-26T22:06:29.351" v="7" actId="20577"/>
        <pc:sldMkLst>
          <pc:docMk/>
          <pc:sldMk cId="1721232625" sldId="361"/>
        </pc:sldMkLst>
      </pc:sldChg>
      <pc:sldChg chg="modNotesTx">
        <pc:chgData name="K V" userId="86d32251763ade23" providerId="LiveId" clId="{4A0D9D80-10C0-47FC-9240-A51847643FE1}" dt="2024-09-26T22:07:08.147" v="24" actId="20577"/>
        <pc:sldMkLst>
          <pc:docMk/>
          <pc:sldMk cId="4148377701" sldId="362"/>
        </pc:sldMkLst>
      </pc:sldChg>
      <pc:sldChg chg="modNotesTx">
        <pc:chgData name="K V" userId="86d32251763ade23" providerId="LiveId" clId="{4A0D9D80-10C0-47FC-9240-A51847643FE1}" dt="2024-09-26T22:06:16.062" v="1" actId="20577"/>
        <pc:sldMkLst>
          <pc:docMk/>
          <pc:sldMk cId="3753365279" sldId="379"/>
        </pc:sldMkLst>
      </pc:sldChg>
      <pc:sldChg chg="modNotesTx">
        <pc:chgData name="K V" userId="86d32251763ade23" providerId="LiveId" clId="{4A0D9D80-10C0-47FC-9240-A51847643FE1}" dt="2024-09-26T22:06:48.322" v="15" actId="20577"/>
        <pc:sldMkLst>
          <pc:docMk/>
          <pc:sldMk cId="3699601017" sldId="381"/>
        </pc:sldMkLst>
      </pc:sldChg>
      <pc:sldChg chg="modNotesTx">
        <pc:chgData name="K V" userId="86d32251763ade23" providerId="LiveId" clId="{4A0D9D80-10C0-47FC-9240-A51847643FE1}" dt="2024-09-26T22:06:59.420" v="20" actId="20577"/>
        <pc:sldMkLst>
          <pc:docMk/>
          <pc:sldMk cId="3983320357" sldId="382"/>
        </pc:sldMkLst>
      </pc:sldChg>
      <pc:sldChg chg="modNotesTx">
        <pc:chgData name="K V" userId="86d32251763ade23" providerId="LiveId" clId="{4A0D9D80-10C0-47FC-9240-A51847643FE1}" dt="2024-09-26T22:07:01.277" v="21" actId="20577"/>
        <pc:sldMkLst>
          <pc:docMk/>
          <pc:sldMk cId="3576373074" sldId="383"/>
        </pc:sldMkLst>
      </pc:sldChg>
      <pc:sldChg chg="modNotesTx">
        <pc:chgData name="K V" userId="86d32251763ade23" providerId="LiveId" clId="{4A0D9D80-10C0-47FC-9240-A51847643FE1}" dt="2024-09-26T22:07:03.181" v="22" actId="20577"/>
        <pc:sldMkLst>
          <pc:docMk/>
          <pc:sldMk cId="3429450235" sldId="384"/>
        </pc:sldMkLst>
      </pc:sldChg>
      <pc:sldChg chg="modNotesTx">
        <pc:chgData name="K V" userId="86d32251763ade23" providerId="LiveId" clId="{4A0D9D80-10C0-47FC-9240-A51847643FE1}" dt="2024-09-26T22:06:39.086" v="11" actId="20577"/>
        <pc:sldMkLst>
          <pc:docMk/>
          <pc:sldMk cId="576721839" sldId="385"/>
        </pc:sldMkLst>
      </pc:sldChg>
      <pc:sldChg chg="modNotesTx">
        <pc:chgData name="K V" userId="86d32251763ade23" providerId="LiveId" clId="{4A0D9D80-10C0-47FC-9240-A51847643FE1}" dt="2024-09-26T22:06:50.331" v="16" actId="20577"/>
        <pc:sldMkLst>
          <pc:docMk/>
          <pc:sldMk cId="1618120453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pPr algn="r"/>
              <a:t>‹#›</a:t>
            </a:fld>
            <a:endParaRPr lang="en-US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200" dirty="0"/>
          </a:p>
        </p:txBody>
      </p:sp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143961" indent="0">
              <a:lnSpc>
                <a:spcPct val="115000"/>
              </a:lnSpc>
              <a:buClr>
                <a:schemeClr val="dk1"/>
              </a:buClr>
              <a:buFont typeface="Calibri"/>
              <a:buNone/>
            </a:pPr>
            <a:endParaRPr lang="en-US" sz="1400" dirty="0"/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8786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2e116b9c7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2e116b9c75_0_8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dirty="0"/>
          </a:p>
        </p:txBody>
      </p:sp>
      <p:sp>
        <p:nvSpPr>
          <p:cNvPr id="136" name="Google Shape;136;g22e116b9c75_0_8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e116b9c7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2e116b9c75_0_4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chemeClr val="dk1"/>
              </a:buClr>
              <a:buSzPts val="3200"/>
            </a:pPr>
            <a:endParaRPr sz="1000" dirty="0"/>
          </a:p>
        </p:txBody>
      </p:sp>
      <p:sp>
        <p:nvSpPr>
          <p:cNvPr id="190" name="Google Shape;190;g22e116b9c75_0_42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73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043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rgbClr val="FF0000"/>
              </a:buClr>
              <a:buSzPts val="3200"/>
            </a:pPr>
            <a:endParaRPr sz="1000" dirty="0"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598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143961" indent="0">
              <a:buClr>
                <a:schemeClr val="dk1"/>
              </a:buClr>
              <a:buFont typeface="Archivo"/>
              <a:buNone/>
            </a:pPr>
            <a:endParaRPr lang="en-US" sz="1000" i="1" dirty="0"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083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rgbClr val="FF0000"/>
              </a:buClr>
              <a:buSzPts val="3200"/>
            </a:pPr>
            <a:endParaRPr lang="en-US" sz="1000" i="1" dirty="0"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29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b="1" i="1" u="sng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973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chemeClr val="dk1"/>
              </a:buClr>
              <a:buSzPts val="3200"/>
            </a:pPr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9923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837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905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7186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2050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0797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9572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endParaRPr sz="1400" b="1" i="1" u="sng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391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chemeClr val="dk1"/>
              </a:buClr>
              <a:buSzPts val="3200"/>
            </a:pPr>
            <a:endParaRPr sz="1400" b="1" i="1" u="sng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45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chemeClr val="dk1"/>
              </a:buClr>
              <a:buSzPts val="3200"/>
            </a:pPr>
            <a:endParaRPr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2319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324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504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85924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b="1" i="1" u="sng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4022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dirty="0"/>
          </a:p>
        </p:txBody>
      </p:sp>
      <p:sp>
        <p:nvSpPr>
          <p:cNvPr id="379" name="Google Shape;379;p21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788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>
              <a:buClr>
                <a:srgbClr val="FF0000"/>
              </a:buClr>
              <a:buSzPts val="3200"/>
            </a:pPr>
            <a:endParaRPr lang="en-US" sz="1000" b="1" i="1" u="sng" dirty="0"/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1866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23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t" anchorCtr="0">
            <a:noAutofit/>
          </a:bodyPr>
          <a:lstStyle/>
          <a:p>
            <a:pPr marL="0" indent="0"/>
            <a:endParaRPr lang="en-US" sz="1400" dirty="0"/>
          </a:p>
        </p:txBody>
      </p:sp>
      <p:sp>
        <p:nvSpPr>
          <p:cNvPr id="395" name="Google Shape;395;p23:notes"/>
          <p:cNvSpPr txBox="1">
            <a:spLocks noGrp="1"/>
          </p:cNvSpPr>
          <p:nvPr>
            <p:ph type="sldNum" idx="12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47094" rIns="94213" bIns="47094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Black Angle">
  <p:cSld name="Presentation Title Black Ang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/>
          <p:nvPr/>
        </p:nvSpPr>
        <p:spPr>
          <a:xfrm>
            <a:off x="0" y="0"/>
            <a:ext cx="11127100" cy="13717588"/>
          </a:xfrm>
          <a:custGeom>
            <a:avLst/>
            <a:gdLst/>
            <a:ahLst/>
            <a:cxnLst/>
            <a:rect l="l" t="t" r="r" b="b"/>
            <a:pathLst>
              <a:path w="11127100" h="13717588" extrusionOk="0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5" name="Google Shape;1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3762" y="4489815"/>
            <a:ext cx="3918523" cy="431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12120786" y="4572794"/>
            <a:ext cx="10297144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Franklin Gothic"/>
              <a:buNone/>
              <a:defRPr b="1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1"/>
          </p:nvPr>
        </p:nvSpPr>
        <p:spPr>
          <a:xfrm>
            <a:off x="12113939" y="7553871"/>
            <a:ext cx="10303991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Gold Angle">
  <p:cSld name="Presentation Title Gold Ang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/>
          <p:nvPr/>
        </p:nvSpPr>
        <p:spPr>
          <a:xfrm>
            <a:off x="0" y="0"/>
            <a:ext cx="11127100" cy="13717588"/>
          </a:xfrm>
          <a:custGeom>
            <a:avLst/>
            <a:gdLst/>
            <a:ahLst/>
            <a:cxnLst/>
            <a:rect l="l" t="t" r="r" b="b"/>
            <a:pathLst>
              <a:path w="11127100" h="13717588" extrusionOk="0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1" name="Google Shape;2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0870" y="4496594"/>
            <a:ext cx="3851324" cy="42392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12120786" y="4592117"/>
            <a:ext cx="10369152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ranklin Gothic"/>
              <a:buNone/>
              <a:defRPr b="1" i="0" cap="none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12120786" y="7573194"/>
            <a:ext cx="10369152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Pattern One">
  <p:cSld name="Presentation Title Pattern One"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94" y="4725194"/>
            <a:ext cx="3918523" cy="4313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9"/>
          <p:cNvCxnSpPr/>
          <p:nvPr/>
        </p:nvCxnSpPr>
        <p:spPr>
          <a:xfrm>
            <a:off x="10680626" y="2034258"/>
            <a:ext cx="0" cy="964907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12120786" y="4554538"/>
            <a:ext cx="10513168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Franklin Gothic"/>
              <a:buNone/>
              <a:defRPr b="1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Pattern Two">
  <p:cSld name="Presentation Title Pattern Two"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3533" y="2926599"/>
            <a:ext cx="3918523" cy="4313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0" y="9485669"/>
            <a:ext cx="243855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Franklin Gothic"/>
              <a:buNone/>
              <a:defRPr sz="9600" b="1" i="0" cap="none">
                <a:solidFill>
                  <a:schemeClr val="accent3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body" idx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With Photo">
  <p:cSld name="Presentation Title With Photo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24089" y="4639497"/>
            <a:ext cx="4032448" cy="443859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1"/>
          <p:cNvSpPr>
            <a:spLocks noGrp="1"/>
          </p:cNvSpPr>
          <p:nvPr>
            <p:ph type="pic" idx="2"/>
          </p:nvPr>
        </p:nvSpPr>
        <p:spPr>
          <a:xfrm>
            <a:off x="10680626" y="0"/>
            <a:ext cx="13704962" cy="137175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Google Shape;39;p31"/>
          <p:cNvSpPr txBox="1">
            <a:spLocks noGrp="1"/>
          </p:cNvSpPr>
          <p:nvPr>
            <p:ph type="title"/>
          </p:nvPr>
        </p:nvSpPr>
        <p:spPr>
          <a:xfrm>
            <a:off x="12120786" y="5334794"/>
            <a:ext cx="10513168" cy="134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Franklin Gothic"/>
              <a:buNone/>
              <a:defRPr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body" idx="1"/>
          </p:nvPr>
        </p:nvSpPr>
        <p:spPr>
          <a:xfrm>
            <a:off x="12120786" y="6969348"/>
            <a:ext cx="10513168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Minimal One">
  <p:cSld name="Presentation Title Minimal On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32"/>
          <p:cNvCxnSpPr/>
          <p:nvPr/>
        </p:nvCxnSpPr>
        <p:spPr>
          <a:xfrm>
            <a:off x="10680626" y="2034258"/>
            <a:ext cx="0" cy="964907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32"/>
          <p:cNvSpPr txBox="1">
            <a:spLocks noGrp="1"/>
          </p:cNvSpPr>
          <p:nvPr>
            <p:ph type="title"/>
          </p:nvPr>
        </p:nvSpPr>
        <p:spPr>
          <a:xfrm>
            <a:off x="12120786" y="4554538"/>
            <a:ext cx="10513168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Franklin Gothic"/>
              <a:buNone/>
              <a:defRPr b="1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pic>
        <p:nvPicPr>
          <p:cNvPr id="46" name="Google Shape;46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24089" y="4639497"/>
            <a:ext cx="4032448" cy="443859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esentation Title Minimal Two">
  <p:cSld name="Presentation Title Minimal Tw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0" y="9485669"/>
            <a:ext cx="243855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600"/>
              <a:buFont typeface="Franklin Gothic"/>
              <a:buNone/>
              <a:defRPr sz="9600" b="1" i="0" cap="none">
                <a:solidFill>
                  <a:schemeClr val="accent3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lnSpc>
                <a:spcPct val="108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pic>
        <p:nvPicPr>
          <p:cNvPr id="51" name="Google Shape;51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76570" y="2826346"/>
            <a:ext cx="4032448" cy="443859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wo Column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711825" y="5922690"/>
            <a:ext cx="16706105" cy="475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5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2"/>
          </p:nvPr>
        </p:nvSpPr>
        <p:spPr>
          <a:xfrm>
            <a:off x="1318989" y="3906466"/>
            <a:ext cx="155543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5400" b="1" cap="none"/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3"/>
          </p:nvPr>
        </p:nvSpPr>
        <p:spPr>
          <a:xfrm>
            <a:off x="5711825" y="11432599"/>
            <a:ext cx="6933406" cy="6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8006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SzPts val="3960"/>
              <a:buFont typeface="Libre Franklin"/>
              <a:buChar char="•"/>
              <a:defRPr/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51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wo Column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711825" y="5922690"/>
            <a:ext cx="16706105" cy="475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5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2"/>
          </p:nvPr>
        </p:nvSpPr>
        <p:spPr>
          <a:xfrm>
            <a:off x="1318989" y="3906466"/>
            <a:ext cx="155543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5400" b="1" cap="none"/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3"/>
          </p:nvPr>
        </p:nvSpPr>
        <p:spPr>
          <a:xfrm>
            <a:off x="5711825" y="11432599"/>
            <a:ext cx="6933406" cy="6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8006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SzPts val="3960"/>
              <a:buFont typeface="Libre Franklin"/>
              <a:buChar char="•"/>
              <a:defRPr/>
            </a:lvl1pPr>
            <a:lvl2pPr marL="914400" lvl="1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2pPr>
            <a:lvl3pPr marL="1371600" lvl="2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3pPr>
            <a:lvl4pPr marL="1828800" lvl="3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4pPr>
            <a:lvl5pPr marL="2286000" lvl="4" indent="-365760" algn="l">
              <a:lnSpc>
                <a:spcPct val="294444"/>
              </a:lnSpc>
              <a:spcBef>
                <a:spcPts val="2500"/>
              </a:spcBef>
              <a:spcAft>
                <a:spcPts val="0"/>
              </a:spcAft>
              <a:buSzPts val="2160"/>
              <a:buChar char="▪"/>
              <a:defRPr/>
            </a:lvl5pPr>
            <a:lvl6pPr marL="2743200" lvl="5" indent="-34290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12120786" y="4381773"/>
            <a:ext cx="8428162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ranklin Gothic"/>
              <a:buNone/>
              <a:defRPr sz="96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/>
          <p:nvPr/>
        </p:nvSpPr>
        <p:spPr>
          <a:xfrm>
            <a:off x="12120786" y="7434858"/>
            <a:ext cx="8428162" cy="1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CLICK TO EDIT SUBTITLE</a:t>
            </a:r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3500" tIns="223500" rIns="223500" bIns="223500" anchor="t" anchorCtr="0">
            <a:noAutofit/>
          </a:bodyPr>
          <a:lstStyle>
            <a:lvl1pPr lvl="0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lvl="2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lvl="3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lvl="4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lvl="5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lvl="6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lvl="7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lvl="8" algn="r">
              <a:buNone/>
              <a:defRPr sz="3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/>
          <p:nvPr/>
        </p:nvSpPr>
        <p:spPr>
          <a:xfrm>
            <a:off x="2834812" y="0"/>
            <a:ext cx="21550776" cy="13717588"/>
          </a:xfrm>
          <a:custGeom>
            <a:avLst/>
            <a:gdLst/>
            <a:ahLst/>
            <a:cxnLst/>
            <a:rect l="l" t="t" r="r" b="b"/>
            <a:pathLst>
              <a:path w="21550776" h="13717588" extrusionOk="0">
                <a:moveTo>
                  <a:pt x="2418781" y="0"/>
                </a:moveTo>
                <a:lnTo>
                  <a:pt x="21550776" y="0"/>
                </a:lnTo>
                <a:lnTo>
                  <a:pt x="21550776" y="13717588"/>
                </a:lnTo>
                <a:lnTo>
                  <a:pt x="0" y="13717588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25242" y="0"/>
            <a:ext cx="901048" cy="18902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  <a:defRPr sz="90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1"/>
          </p:nvPr>
        </p:nvSpPr>
        <p:spPr>
          <a:xfrm>
            <a:off x="1292454" y="4482530"/>
            <a:ext cx="21032788" cy="4680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48006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960"/>
              <a:buFont typeface="Noto Sans Symbols"/>
              <a:buChar char="▪"/>
              <a:defRPr sz="33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480060" algn="l" rtl="0">
              <a:lnSpc>
                <a:spcPct val="160606"/>
              </a:lnSpc>
              <a:spcBef>
                <a:spcPts val="2500"/>
              </a:spcBef>
              <a:spcAft>
                <a:spcPts val="0"/>
              </a:spcAft>
              <a:buClr>
                <a:schemeClr val="accent3"/>
              </a:buClr>
              <a:buSzPts val="3960"/>
              <a:buFont typeface="Noto Sans Symbols"/>
              <a:buChar char="▪"/>
              <a:defRPr sz="33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480060" algn="l" rtl="0">
              <a:lnSpc>
                <a:spcPct val="160606"/>
              </a:lnSpc>
              <a:spcBef>
                <a:spcPts val="2500"/>
              </a:spcBef>
              <a:spcAft>
                <a:spcPts val="0"/>
              </a:spcAft>
              <a:buClr>
                <a:schemeClr val="accent3"/>
              </a:buClr>
              <a:buSzPts val="3960"/>
              <a:buFont typeface="Noto Sans Symbols"/>
              <a:buChar char="▪"/>
              <a:defRPr sz="33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480060" algn="l" rtl="0">
              <a:lnSpc>
                <a:spcPct val="160606"/>
              </a:lnSpc>
              <a:spcBef>
                <a:spcPts val="2500"/>
              </a:spcBef>
              <a:spcAft>
                <a:spcPts val="0"/>
              </a:spcAft>
              <a:buClr>
                <a:schemeClr val="accent3"/>
              </a:buClr>
              <a:buSzPts val="3960"/>
              <a:buFont typeface="Noto Sans Symbols"/>
              <a:buChar char="▪"/>
              <a:defRPr sz="33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480060" algn="l" rtl="0">
              <a:lnSpc>
                <a:spcPct val="160606"/>
              </a:lnSpc>
              <a:spcBef>
                <a:spcPts val="2500"/>
              </a:spcBef>
              <a:spcAft>
                <a:spcPts val="0"/>
              </a:spcAft>
              <a:buClr>
                <a:schemeClr val="accent3"/>
              </a:buClr>
              <a:buSzPts val="3960"/>
              <a:buFont typeface="Noto Sans Symbols"/>
              <a:buChar char="▪"/>
              <a:defRPr sz="33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56515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65150" algn="l" rtl="0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sz="5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3500" tIns="223500" rIns="223500" bIns="223500" anchor="t" anchorCtr="0">
            <a:noAutofit/>
          </a:bodyPr>
          <a:lstStyle>
            <a:lvl1pPr lvl="0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algn="r">
              <a:buNone/>
              <a:def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>
            <a:spLocks noGrp="1"/>
          </p:cNvSpPr>
          <p:nvPr>
            <p:ph type="title"/>
          </p:nvPr>
        </p:nvSpPr>
        <p:spPr>
          <a:xfrm>
            <a:off x="11036425" y="2729086"/>
            <a:ext cx="125328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Franklin Gothic"/>
              <a:buNone/>
            </a:pPr>
            <a:r>
              <a:rPr lang="en-US" sz="6000" dirty="0"/>
              <a:t>From Code to EM Signals: A Generative Approach to Side Channel Analysis-based Anomaly Detection</a:t>
            </a:r>
            <a:endParaRPr lang="en-US" dirty="0"/>
          </a:p>
        </p:txBody>
      </p:sp>
      <p:sp>
        <p:nvSpPr>
          <p:cNvPr id="111" name="Google Shape;111;p1"/>
          <p:cNvSpPr txBox="1">
            <a:spLocks noGrp="1"/>
          </p:cNvSpPr>
          <p:nvPr>
            <p:ph type="body" idx="1"/>
          </p:nvPr>
        </p:nvSpPr>
        <p:spPr>
          <a:xfrm>
            <a:off x="11036425" y="7553875"/>
            <a:ext cx="12532800" cy="47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BY: KURT A. VEDROS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MAJOR ADVISORS: DR. CONSTANTINOS KOLIAS AND DR. MIN XIAN</a:t>
            </a:r>
            <a:endParaRPr sz="2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SPONSORED BY: </a:t>
            </a:r>
            <a:r>
              <a:rPr lang="en-US" sz="2800" u="sng" dirty="0">
                <a:latin typeface="Arial"/>
                <a:ea typeface="Arial"/>
                <a:cs typeface="Arial"/>
                <a:sym typeface="Arial"/>
              </a:rPr>
              <a:t>DEPARTMENT OF ENERGY (DOE) IDAHO OPERATIONS OFFICE CONTRACT, AS PART OF LABORATORY DIRECTED RESEARCH AND DEVELOPMENT (LDRD) PROGRAM OF IDAHO NATIONAL LABORATORY (INL).</a:t>
            </a:r>
            <a:endParaRPr sz="2800" dirty="0"/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794" y="8992394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1219995" y="2439194"/>
            <a:ext cx="21032700" cy="10802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dirty="0"/>
              <a:t>New type of hardware security</a:t>
            </a:r>
            <a:endParaRPr sz="3600" dirty="0"/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External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Non-nonintrusive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endParaRPr lang="en-US" sz="3600" dirty="0"/>
          </a:p>
          <a:p>
            <a:pPr marL="0" indent="0">
              <a:lnSpc>
                <a:spcPct val="150000"/>
              </a:lnSpc>
              <a:buSzPts val="3600"/>
            </a:pPr>
            <a:r>
              <a:rPr lang="en-US" sz="3600" dirty="0"/>
              <a:t>Cybersecurity for devices with limited resources (e.g., embedded devices) 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No crypto libraries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No protection tools (antivirus software)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</a:pPr>
            <a:endParaRPr lang="en-US" sz="36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</a:pPr>
            <a:r>
              <a:rPr lang="en-US" sz="3600" dirty="0"/>
              <a:t>Emission types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Power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Thermal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dirty="0"/>
              <a:t>Acoustic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 panose="020B0604020202020204" pitchFamily="34" charset="0"/>
              <a:buChar char="•"/>
            </a:pPr>
            <a:r>
              <a:rPr lang="en-US" sz="3600" b="1" dirty="0"/>
              <a:t>Electromagnetic</a:t>
            </a:r>
            <a:r>
              <a:rPr lang="en-US" sz="3600" dirty="0"/>
              <a:t> (higher bandwidth and sampling rates)</a:t>
            </a:r>
            <a:endParaRPr sz="3600" dirty="0"/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8000" dirty="0"/>
              <a:t>Side-Channel Analysis for Anomaly Detection</a:t>
            </a:r>
            <a:endParaRPr sz="8000" dirty="0"/>
          </a:p>
        </p:txBody>
      </p:sp>
      <p:sp>
        <p:nvSpPr>
          <p:cNvPr id="122" name="Google Shape;122;p2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Google Shape;154;p4">
            <a:extLst>
              <a:ext uri="{FF2B5EF4-FFF2-40B4-BE49-F238E27FC236}">
                <a16:creationId xmlns:a16="http://schemas.microsoft.com/office/drawing/2014/main" id="{AD195532-9541-1A73-E6DC-DEB35E75B3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21347" y="6858794"/>
            <a:ext cx="9612934" cy="60101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36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e116b9c75_0_8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1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7200" dirty="0"/>
              <a:t>Morphology of EM Signals from Embedded Devices</a:t>
            </a:r>
            <a:endParaRPr sz="7200" dirty="0"/>
          </a:p>
        </p:txBody>
      </p:sp>
      <p:sp>
        <p:nvSpPr>
          <p:cNvPr id="139" name="Google Shape;139;g22e116b9c75_0_8"/>
          <p:cNvSpPr txBox="1">
            <a:spLocks noGrp="1"/>
          </p:cNvSpPr>
          <p:nvPr>
            <p:ph type="body" idx="1"/>
          </p:nvPr>
        </p:nvSpPr>
        <p:spPr>
          <a:xfrm>
            <a:off x="731519" y="2451221"/>
            <a:ext cx="12286373" cy="110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Produced by the EM field created when the magnetic and electrical fields interact.</a:t>
            </a:r>
            <a:endParaRPr sz="3200" dirty="0"/>
          </a:p>
          <a:p>
            <a:pPr marL="946150" lvl="1" indent="-457200">
              <a:lnSpc>
                <a:spcPct val="150000"/>
              </a:lnSpc>
              <a:spcBef>
                <a:spcPts val="0"/>
              </a:spcBef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Caused by the change in flow of electrical current inside the device’s circuitry.</a:t>
            </a:r>
          </a:p>
          <a:p>
            <a:pPr marL="488950" lvl="1" indent="0">
              <a:lnSpc>
                <a:spcPct val="150000"/>
              </a:lnSpc>
              <a:spcBef>
                <a:spcPts val="0"/>
              </a:spcBef>
              <a:buSzPts val="3100"/>
              <a:buNone/>
            </a:pPr>
            <a:endParaRPr sz="3200" dirty="0"/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Amplitude Modulated by the execution of instructions</a:t>
            </a:r>
            <a:endParaRPr sz="3200" dirty="0"/>
          </a:p>
          <a:p>
            <a:pPr marL="1018540"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Each instruction takes a set amount of cycles (two waves).</a:t>
            </a:r>
            <a:endParaRPr sz="3200" dirty="0"/>
          </a:p>
          <a:p>
            <a:pPr marL="1018540"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It is common for each instruction to span one to three cycles (depends on the CPU type).</a:t>
            </a:r>
          </a:p>
          <a:p>
            <a:pPr marL="1018540"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Main difference is the peak amplitude values.</a:t>
            </a:r>
          </a:p>
          <a:p>
            <a:pPr marL="1018540"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Amplitudes are not static in nature</a:t>
            </a:r>
          </a:p>
          <a:p>
            <a:pPr marL="1475740" lvl="2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 slight variations between each run.</a:t>
            </a:r>
          </a:p>
          <a:p>
            <a:pPr marL="561340" lvl="1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endParaRPr sz="3200" dirty="0"/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Base frequency modulated to that of the clock of the monitored CPU.</a:t>
            </a:r>
            <a:endParaRPr sz="3200" dirty="0"/>
          </a:p>
        </p:txBody>
      </p:sp>
      <p:pic>
        <p:nvPicPr>
          <p:cNvPr id="140" name="Google Shape;140;g22e116b9c7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7896" y="2398698"/>
            <a:ext cx="11006501" cy="38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2e116b9c75_0_8"/>
          <p:cNvSpPr/>
          <p:nvPr/>
        </p:nvSpPr>
        <p:spPr>
          <a:xfrm>
            <a:off x="13017896" y="6858857"/>
            <a:ext cx="11006400" cy="391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g22e116b9c75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7896" y="6858794"/>
            <a:ext cx="11006397" cy="391242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2e116b9c75_0_8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e116b9c75_0_42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Test Bed</a:t>
            </a:r>
            <a:endParaRPr dirty="0"/>
          </a:p>
        </p:txBody>
      </p:sp>
      <p:sp>
        <p:nvSpPr>
          <p:cNvPr id="194" name="Google Shape;194;g22e116b9c75_0_42"/>
          <p:cNvSpPr txBox="1"/>
          <p:nvPr/>
        </p:nvSpPr>
        <p:spPr>
          <a:xfrm>
            <a:off x="1219994" y="6721660"/>
            <a:ext cx="10608212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Equipment</a:t>
            </a: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ATmega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 2560 AVR MCU.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EMRSS RF Explorer H-Loop EM Probe.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Behive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 150A EMC probe amplifier.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PicoScope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 3403D oscilloscope.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Laptop.</a:t>
            </a:r>
            <a:endParaRPr sz="4000" dirty="0">
              <a:latin typeface="Libre Franklin" pitchFamily="2" charset="0"/>
            </a:endParaRPr>
          </a:p>
        </p:txBody>
      </p:sp>
      <p:sp>
        <p:nvSpPr>
          <p:cNvPr id="195" name="Google Shape;195;g22e116b9c75_0_42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8BB6F3-847A-5021-2872-8319A3D74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203" y="2775670"/>
            <a:ext cx="18434282" cy="3166114"/>
          </a:xfrm>
          <a:prstGeom prst="rect">
            <a:avLst/>
          </a:prstGeom>
        </p:spPr>
      </p:pic>
      <p:sp>
        <p:nvSpPr>
          <p:cNvPr id="4" name="Google Shape;194;g22e116b9c75_0_42">
            <a:extLst>
              <a:ext uri="{FF2B5EF4-FFF2-40B4-BE49-F238E27FC236}">
                <a16:creationId xmlns:a16="http://schemas.microsoft.com/office/drawing/2014/main" id="{C535AB13-C2E8-5E6D-F9C4-1F1A1EAB82F5}"/>
              </a:ext>
            </a:extLst>
          </p:cNvPr>
          <p:cNvSpPr txBox="1"/>
          <p:nvPr/>
        </p:nvSpPr>
        <p:spPr>
          <a:xfrm>
            <a:off x="12192794" y="6721660"/>
            <a:ext cx="19296850" cy="46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Parameters.</a:t>
            </a:r>
            <a:endParaRPr sz="4000" dirty="0">
              <a:latin typeface="Libre Franklin" pitchFamily="2" charset="0"/>
            </a:endParaRPr>
          </a:p>
          <a:p>
            <a:pPr marL="9525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Sample Rate: 500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MSamples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/sec</a:t>
            </a:r>
            <a:endParaRPr sz="4000" dirty="0">
              <a:latin typeface="Libre Franklin" pitchFamily="2" charset="0"/>
            </a:endParaRPr>
          </a:p>
          <a:p>
            <a:pPr marL="9525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Sampling Interval: 2nsec</a:t>
            </a:r>
            <a:endParaRPr sz="4000" dirty="0">
              <a:latin typeface="Libre Franklin" pitchFamily="2" charset="0"/>
            </a:endParaRPr>
          </a:p>
          <a:p>
            <a:pPr marL="9525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Duration: </a:t>
            </a:r>
            <a:r>
              <a:rPr lang="en-US" sz="4000" b="0" i="0" u="none" strike="noStrike" cap="none" dirty="0">
                <a:solidFill>
                  <a:srgbClr val="666666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&lt; 1 </a:t>
            </a:r>
            <a:r>
              <a:rPr lang="en-US" sz="4000" b="0" i="0" u="none" strike="noStrike" cap="none" dirty="0" err="1">
                <a:solidFill>
                  <a:srgbClr val="666666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μsec</a:t>
            </a:r>
            <a:endParaRPr sz="4000" dirty="0">
              <a:latin typeface="Libre Franklin" pitchFamily="2" charset="0"/>
            </a:endParaRPr>
          </a:p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ibre Franklin" pitchFamily="2" charset="0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27ACCE-80ED-A57A-B7AD-6EAD3A7E194A}"/>
              </a:ext>
            </a:extLst>
          </p:cNvPr>
          <p:cNvSpPr/>
          <p:nvPr/>
        </p:nvSpPr>
        <p:spPr>
          <a:xfrm>
            <a:off x="855406" y="6858794"/>
            <a:ext cx="10140254" cy="540284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16329-8764-E182-9744-B1B0A2317118}"/>
              </a:ext>
            </a:extLst>
          </p:cNvPr>
          <p:cNvSpPr/>
          <p:nvPr/>
        </p:nvSpPr>
        <p:spPr>
          <a:xfrm>
            <a:off x="11828206" y="6858794"/>
            <a:ext cx="10140254" cy="540284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3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8000" dirty="0"/>
              <a:t>Challenges of EM-based Side-Channel Analysis</a:t>
            </a:r>
            <a:endParaRPr sz="8000" dirty="0"/>
          </a:p>
        </p:txBody>
      </p: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4EEB949-E4E3-015C-597F-B3CBF2A92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65" y="3774831"/>
            <a:ext cx="20451568" cy="8892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BA31E3-9327-CA59-0BC1-35AB73145DCB}"/>
              </a:ext>
            </a:extLst>
          </p:cNvPr>
          <p:cNvSpPr txBox="1"/>
          <p:nvPr/>
        </p:nvSpPr>
        <p:spPr>
          <a:xfrm>
            <a:off x="4243753" y="3015981"/>
            <a:ext cx="16787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Libre Franklin" pitchFamily="2" charset="0"/>
              </a:rPr>
              <a:t>Red </a:t>
            </a:r>
            <a:r>
              <a:rPr lang="en-US" sz="3600" dirty="0">
                <a:latin typeface="Libre Franklin" pitchFamily="2" charset="0"/>
              </a:rPr>
              <a:t>: Clean Signal				</a:t>
            </a:r>
            <a:r>
              <a:rPr lang="en-US" sz="3600" b="1" dirty="0">
                <a:latin typeface="Libre Franklin" pitchFamily="2" charset="0"/>
              </a:rPr>
              <a:t>Blue</a:t>
            </a:r>
            <a:r>
              <a:rPr lang="en-US" sz="3600" dirty="0">
                <a:latin typeface="Libre Franklin" pitchFamily="2" charset="0"/>
              </a:rPr>
              <a:t>: Noisy version of same signal </a:t>
            </a:r>
          </a:p>
        </p:txBody>
      </p:sp>
    </p:spTree>
    <p:extLst>
      <p:ext uri="{BB962C8B-B14F-4D97-AF65-F5344CB8AC3E}">
        <p14:creationId xmlns:p14="http://schemas.microsoft.com/office/powerpoint/2010/main" val="399811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8000" dirty="0"/>
              <a:t>Challenges of EM-based Side-Channel Analysis</a:t>
            </a:r>
            <a:endParaRPr sz="8000" dirty="0"/>
          </a:p>
        </p:txBody>
      </p: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4" name="Google Shape;154;p4">
            <a:extLst>
              <a:ext uri="{FF2B5EF4-FFF2-40B4-BE49-F238E27FC236}">
                <a16:creationId xmlns:a16="http://schemas.microsoft.com/office/drawing/2014/main" id="{04A0F845-2981-F7C6-CBBE-BB33765832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05" y="5697416"/>
            <a:ext cx="7019335" cy="4388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56;p4">
            <a:extLst>
              <a:ext uri="{FF2B5EF4-FFF2-40B4-BE49-F238E27FC236}">
                <a16:creationId xmlns:a16="http://schemas.microsoft.com/office/drawing/2014/main" id="{21A21AE7-14F7-AC1A-7EB3-465C8BB8A18A}"/>
              </a:ext>
            </a:extLst>
          </p:cNvPr>
          <p:cNvCxnSpPr>
            <a:cxnSpLocks/>
          </p:cNvCxnSpPr>
          <p:nvPr/>
        </p:nvCxnSpPr>
        <p:spPr>
          <a:xfrm>
            <a:off x="3600372" y="4970585"/>
            <a:ext cx="650038" cy="1975732"/>
          </a:xfrm>
          <a:prstGeom prst="straightConnector1">
            <a:avLst/>
          </a:prstGeom>
          <a:noFill/>
          <a:ln w="76200" cap="flat" cmpd="sng">
            <a:solidFill>
              <a:srgbClr val="0032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149;p4">
            <a:extLst>
              <a:ext uri="{FF2B5EF4-FFF2-40B4-BE49-F238E27FC236}">
                <a16:creationId xmlns:a16="http://schemas.microsoft.com/office/drawing/2014/main" id="{5E6F47FB-851D-11F6-A4E7-F093BA0AC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3555" y="4024129"/>
            <a:ext cx="9829800" cy="81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dirty="0">
                <a:latin typeface="Proxima Nova"/>
                <a:ea typeface="Proxima Nova"/>
                <a:cs typeface="Proxima Nova"/>
                <a:sym typeface="Proxima Nova"/>
              </a:rPr>
              <a:t>Careful positioning of probe!</a:t>
            </a:r>
            <a:endParaRPr dirty="0"/>
          </a:p>
        </p:txBody>
      </p:sp>
      <p:pic>
        <p:nvPicPr>
          <p:cNvPr id="5" name="Picture 4" descr="A blue lines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FE90A6E6-39EE-62ED-B63A-127DFBF8F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040" y="4526280"/>
            <a:ext cx="16926837" cy="689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8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8000" dirty="0"/>
              <a:t>Challenges of EM-based Side-Channel Analysis</a:t>
            </a:r>
            <a:endParaRPr sz="8000" dirty="0"/>
          </a:p>
        </p:txBody>
      </p: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8AEA0052-0EF5-1001-365A-402907B0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253" y="3067315"/>
            <a:ext cx="16166181" cy="758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7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3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8000" dirty="0"/>
              <a:t>Challenges of EM-based Side-Channel Analysis</a:t>
            </a:r>
            <a:endParaRPr sz="8000" dirty="0"/>
          </a:p>
        </p:txBody>
      </p: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C3D80417-C44A-55EA-8DDE-E0B8DC148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47" y="3103288"/>
            <a:ext cx="17328393" cy="95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Code-to-EM Signal Synthesis using GANs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6FC80-77F2-4A8A-128E-5DE23E1C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94" y="2094562"/>
            <a:ext cx="21827715" cy="711036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52221D-0C4B-6F87-9595-03AD8B69679C}"/>
              </a:ext>
            </a:extLst>
          </p:cNvPr>
          <p:cNvCxnSpPr>
            <a:cxnSpLocks/>
          </p:cNvCxnSpPr>
          <p:nvPr/>
        </p:nvCxnSpPr>
        <p:spPr>
          <a:xfrm flipH="1">
            <a:off x="6473371" y="3434902"/>
            <a:ext cx="1667399" cy="81708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387E11E-05A9-DB3A-F13C-79F17780F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70" y="2078488"/>
            <a:ext cx="3595574" cy="2712828"/>
          </a:xfrm>
          <a:prstGeom prst="rect">
            <a:avLst/>
          </a:prstGeom>
        </p:spPr>
      </p:pic>
      <p:sp>
        <p:nvSpPr>
          <p:cNvPr id="7" name="Google Shape;194;g22e116b9c75_0_42">
            <a:extLst>
              <a:ext uri="{FF2B5EF4-FFF2-40B4-BE49-F238E27FC236}">
                <a16:creationId xmlns:a16="http://schemas.microsoft.com/office/drawing/2014/main" id="{F2E15960-0FC5-0F1A-0AB4-6E69AC5F98EA}"/>
              </a:ext>
            </a:extLst>
          </p:cNvPr>
          <p:cNvSpPr txBox="1"/>
          <p:nvPr/>
        </p:nvSpPr>
        <p:spPr>
          <a:xfrm>
            <a:off x="6829745" y="9541741"/>
            <a:ext cx="1060821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dirty="0">
                <a:solidFill>
                  <a:schemeClr val="dk1"/>
                </a:solidFill>
                <a:latin typeface="Libre Franklin" pitchFamily="2" charset="0"/>
                <a:sym typeface="Libre Franklin"/>
              </a:rPr>
              <a:t>Tokenizer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Conditional GANs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 err="1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ResGANs</a:t>
            </a:r>
            <a:endParaRPr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Wasserstein GAN with Gradient Penalty</a:t>
            </a:r>
            <a:endParaRPr sz="4000" dirty="0">
              <a:latin typeface="Libre Frankl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58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Workflow for EM-based anomaly detection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D8FEA-EEEE-50C3-1F74-3F492F1D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02" y="4314825"/>
            <a:ext cx="23352184" cy="563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Complicated due to Active Device State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6C5AE9B-F23B-58E6-1ACF-3C49D34F3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47" y="2912056"/>
            <a:ext cx="22741293" cy="7893476"/>
          </a:xfrm>
          <a:prstGeom prst="rect">
            <a:avLst/>
          </a:prstGeom>
        </p:spPr>
      </p:pic>
      <p:sp>
        <p:nvSpPr>
          <p:cNvPr id="4" name="Google Shape;194;g22e116b9c75_0_42">
            <a:extLst>
              <a:ext uri="{FF2B5EF4-FFF2-40B4-BE49-F238E27FC236}">
                <a16:creationId xmlns:a16="http://schemas.microsoft.com/office/drawing/2014/main" id="{878940F3-FF19-AE16-AE43-B0F30DC43403}"/>
              </a:ext>
            </a:extLst>
          </p:cNvPr>
          <p:cNvSpPr txBox="1"/>
          <p:nvPr/>
        </p:nvSpPr>
        <p:spPr>
          <a:xfrm>
            <a:off x="8295041" y="11260535"/>
            <a:ext cx="6882606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4000" dirty="0">
                <a:solidFill>
                  <a:schemeClr val="dk1"/>
                </a:solidFill>
                <a:latin typeface="Libre Franklin" pitchFamily="2" charset="0"/>
                <a:sym typeface="Libre Franklin"/>
              </a:rPr>
              <a:t>Different amplitude peaks</a:t>
            </a:r>
            <a:endParaRPr lang="en-US" sz="4000" dirty="0">
              <a:latin typeface="Libre Franklin" pitchFamily="2" charset="0"/>
            </a:endParaRPr>
          </a:p>
          <a:p>
            <a:pPr marL="495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 pitchFamily="34" charset="0"/>
              <a:buChar char="●"/>
            </a:pPr>
            <a:r>
              <a:rPr lang="en-US" sz="4000" dirty="0">
                <a:solidFill>
                  <a:schemeClr val="dk1"/>
                </a:solidFill>
                <a:latin typeface="Libre Franklin" pitchFamily="2" charset="0"/>
                <a:sym typeface="Libre Franklin"/>
              </a:rPr>
              <a:t>Residual electrical charge</a:t>
            </a:r>
            <a:endParaRPr sz="4000" dirty="0">
              <a:latin typeface="Libre Frankl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9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Accounting for Active Device State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Google Shape;139;g22e116b9c75_0_8">
            <a:extLst>
              <a:ext uri="{FF2B5EF4-FFF2-40B4-BE49-F238E27FC236}">
                <a16:creationId xmlns:a16="http://schemas.microsoft.com/office/drawing/2014/main" id="{8D46C911-F7E1-02F4-1E0A-0D3FC754B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2078488"/>
            <a:ext cx="21032700" cy="110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r>
              <a:rPr lang="en-US" sz="3200" dirty="0"/>
              <a:t>Library of instructions to signals.</a:t>
            </a:r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r>
              <a:rPr lang="en-US" sz="3200" dirty="0"/>
              <a:t>Not realistic to locate and harvest signals of very large sequences</a:t>
            </a:r>
            <a:endParaRPr sz="3200" dirty="0"/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Example: ATmega2560 contains 123 executable instructions.</a:t>
            </a:r>
          </a:p>
          <a:p>
            <a:pPr marL="946150" lvl="1" indent="-457200">
              <a:lnSpc>
                <a:spcPct val="150000"/>
              </a:lnSpc>
              <a:spcBef>
                <a:spcPts val="0"/>
              </a:spcBef>
              <a:buSzPts val="3100"/>
              <a:buFont typeface="Calibri" panose="020F0502020204030204" pitchFamily="34" charset="0"/>
              <a:buChar char="●"/>
            </a:pPr>
            <a:r>
              <a:rPr lang="en-US" sz="3200" dirty="0"/>
              <a:t>Increases the total possible sequences by the power the number of prior instructions plus 1.</a:t>
            </a:r>
            <a:endParaRPr sz="3200" dirty="0"/>
          </a:p>
          <a:p>
            <a:pPr marL="1475740" lvl="2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Total possible sequences… </a:t>
            </a:r>
          </a:p>
          <a:p>
            <a:pPr marL="1932940" lvl="3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1 prior instruction: 123</a:t>
            </a:r>
            <a:r>
              <a:rPr lang="en-US" sz="3200" baseline="30000" dirty="0"/>
              <a:t>2 </a:t>
            </a:r>
            <a:r>
              <a:rPr lang="en-US" sz="3200" dirty="0"/>
              <a:t>= 15,129</a:t>
            </a:r>
          </a:p>
          <a:p>
            <a:pPr marL="1932940" lvl="3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2 prior instructions: 123</a:t>
            </a:r>
            <a:r>
              <a:rPr lang="en-US" sz="3200" baseline="30000" dirty="0"/>
              <a:t>3</a:t>
            </a:r>
            <a:r>
              <a:rPr lang="en-US" sz="3200" dirty="0"/>
              <a:t> = 1,860,867</a:t>
            </a:r>
          </a:p>
          <a:p>
            <a:pPr marL="1932940" lvl="3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3 prior instructions: 123</a:t>
            </a:r>
            <a:r>
              <a:rPr lang="en-US" sz="3200" baseline="30000" dirty="0"/>
              <a:t>4</a:t>
            </a:r>
            <a:r>
              <a:rPr lang="en-US" sz="3200" dirty="0"/>
              <a:t> = 228,886,641</a:t>
            </a:r>
            <a:endParaRPr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F3FE4-08D1-0C80-B5CC-53B646304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197" y="3712778"/>
            <a:ext cx="7191375" cy="3400425"/>
          </a:xfrm>
          <a:prstGeom prst="rect">
            <a:avLst/>
          </a:prstGeom>
        </p:spPr>
      </p:pic>
      <p:pic>
        <p:nvPicPr>
          <p:cNvPr id="7" name="Google Shape;113;p9">
            <a:extLst>
              <a:ext uri="{FF2B5EF4-FFF2-40B4-BE49-F238E27FC236}">
                <a16:creationId xmlns:a16="http://schemas.microsoft.com/office/drawing/2014/main" id="{C6A73BBE-8ADE-183C-402E-720B08649C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5727" y="3857854"/>
            <a:ext cx="4070675" cy="31441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9">
            <a:extLst>
              <a:ext uri="{FF2B5EF4-FFF2-40B4-BE49-F238E27FC236}">
                <a16:creationId xmlns:a16="http://schemas.microsoft.com/office/drawing/2014/main" id="{6484837C-9932-0C8A-BF28-07CFC13FE305}"/>
              </a:ext>
            </a:extLst>
          </p:cNvPr>
          <p:cNvSpPr txBox="1"/>
          <p:nvPr/>
        </p:nvSpPr>
        <p:spPr>
          <a:xfrm>
            <a:off x="4059120" y="3062971"/>
            <a:ext cx="453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Franklin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Influence Case</a:t>
            </a:r>
            <a:endParaRPr sz="3600" b="1" i="0" u="none" strike="noStrike" cap="none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9" name="Google Shape;116;p9">
            <a:extLst>
              <a:ext uri="{FF2B5EF4-FFF2-40B4-BE49-F238E27FC236}">
                <a16:creationId xmlns:a16="http://schemas.microsoft.com/office/drawing/2014/main" id="{2A2702DA-6DB5-F8F7-3560-9ECA7B40A19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5533" y="3840916"/>
            <a:ext cx="3411593" cy="31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;p9">
            <a:extLst>
              <a:ext uri="{FF2B5EF4-FFF2-40B4-BE49-F238E27FC236}">
                <a16:creationId xmlns:a16="http://schemas.microsoft.com/office/drawing/2014/main" id="{F86EEC54-F284-E33A-7CD9-8AF67478235C}"/>
              </a:ext>
            </a:extLst>
          </p:cNvPr>
          <p:cNvSpPr txBox="1"/>
          <p:nvPr/>
        </p:nvSpPr>
        <p:spPr>
          <a:xfrm>
            <a:off x="10897168" y="2974145"/>
            <a:ext cx="9783603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Franklin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 Case (account for prior instructions)</a:t>
            </a:r>
            <a:endParaRPr sz="3600" b="1" i="0" u="none" strike="noStrike" cap="none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57672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Accounting for Active Device State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" name="Picture 2" descr="A diagram of a chart&#10;&#10;Description automatically generated with medium confidence">
            <a:extLst>
              <a:ext uri="{FF2B5EF4-FFF2-40B4-BE49-F238E27FC236}">
                <a16:creationId xmlns:a16="http://schemas.microsoft.com/office/drawing/2014/main" id="{7D4AC6CB-DEA6-0DC6-982E-4F57BB7E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40" y="2378430"/>
            <a:ext cx="18545908" cy="6287865"/>
          </a:xfrm>
          <a:prstGeom prst="rect">
            <a:avLst/>
          </a:prstGeom>
        </p:spPr>
      </p:pic>
      <p:pic>
        <p:nvPicPr>
          <p:cNvPr id="2" name="Picture 1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E9E37602-73A8-813A-C86F-F76E8DECA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354" y="8966237"/>
            <a:ext cx="15865980" cy="455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7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Programs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67E3E-A354-7720-5A22-CA692AA7B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4" y="2746530"/>
            <a:ext cx="8577507" cy="57223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F3FF60-90DB-E04F-7EC2-57BC444517CF}"/>
              </a:ext>
            </a:extLst>
          </p:cNvPr>
          <p:cNvSpPr/>
          <p:nvPr/>
        </p:nvSpPr>
        <p:spPr>
          <a:xfrm>
            <a:off x="3452272" y="4096542"/>
            <a:ext cx="1255058" cy="32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Program</a:t>
            </a:r>
          </a:p>
        </p:txBody>
      </p:sp>
      <p:pic>
        <p:nvPicPr>
          <p:cNvPr id="14" name="Picture 13" descr="A graph of a wave&#10;&#10;Description automatically generated with medium confidence">
            <a:extLst>
              <a:ext uri="{FF2B5EF4-FFF2-40B4-BE49-F238E27FC236}">
                <a16:creationId xmlns:a16="http://schemas.microsoft.com/office/drawing/2014/main" id="{2A7894D3-FA7E-5BBA-54C7-0794C97B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480" y="2167472"/>
            <a:ext cx="15158484" cy="3416316"/>
          </a:xfrm>
          <a:prstGeom prst="rect">
            <a:avLst/>
          </a:prstGeom>
        </p:spPr>
      </p:pic>
      <p:pic>
        <p:nvPicPr>
          <p:cNvPr id="16" name="Picture 1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5B68ADEE-C0D5-E354-6551-CB78E2A99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480" y="5607690"/>
            <a:ext cx="15158484" cy="33415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843C484-3EB6-F13E-13C1-1A857E4210E1}"/>
              </a:ext>
            </a:extLst>
          </p:cNvPr>
          <p:cNvSpPr/>
          <p:nvPr/>
        </p:nvSpPr>
        <p:spPr>
          <a:xfrm>
            <a:off x="16703722" y="2738791"/>
            <a:ext cx="6515100" cy="100965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CE632E-0CFB-D55C-B29D-637F490C50C6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6703722" y="3748441"/>
            <a:ext cx="3257550" cy="1835347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139;g22e116b9c75_0_8">
            <a:extLst>
              <a:ext uri="{FF2B5EF4-FFF2-40B4-BE49-F238E27FC236}">
                <a16:creationId xmlns:a16="http://schemas.microsoft.com/office/drawing/2014/main" id="{E312F042-8A3F-51AA-888B-696986B27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8219" y="9285605"/>
            <a:ext cx="2148915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r>
              <a:rPr lang="en-US" sz="3200" dirty="0"/>
              <a:t>Benign program created from common sequences of popular Arduino </a:t>
            </a:r>
            <a:r>
              <a:rPr lang="en-US" sz="3200" dirty="0" err="1"/>
              <a:t>ATmega</a:t>
            </a:r>
            <a:r>
              <a:rPr lang="en-US" sz="3200" dirty="0"/>
              <a:t> 2560 programs found on </a:t>
            </a:r>
            <a:r>
              <a:rPr lang="en-US" sz="3200" dirty="0" err="1"/>
              <a:t>Github</a:t>
            </a: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r>
              <a:rPr lang="en-US" sz="3200" dirty="0"/>
              <a:t>Applied White Gaussian Noise</a:t>
            </a:r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 panose="020B0604020202020204" pitchFamily="34" charset="0"/>
              <a:buChar char="•"/>
            </a:pPr>
            <a:r>
              <a:rPr lang="en-US" sz="3200" dirty="0"/>
              <a:t>Obtained 25, 20, 15 Signal to Noise Ratio (SNR) samples</a:t>
            </a:r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145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Evaluation of Fidelity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49BB8FDB-FB18-A444-5446-6A17C9AC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08" y="2920133"/>
            <a:ext cx="15712971" cy="53846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A240DE-C8C4-8E17-65CD-9F9191405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268" y="8896523"/>
            <a:ext cx="18398332" cy="37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3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Evaluation for Anomaly Detection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6" name="Picture 5" descr="A black and orange line&#10;&#10;Description automatically generated">
            <a:extLst>
              <a:ext uri="{FF2B5EF4-FFF2-40B4-BE49-F238E27FC236}">
                <a16:creationId xmlns:a16="http://schemas.microsoft.com/office/drawing/2014/main" id="{F23849CF-7400-744C-D938-26E4A0B1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656" y="2732526"/>
            <a:ext cx="16241486" cy="550995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D3C5CA-F9DF-B241-2647-B30CF3666E74}"/>
              </a:ext>
            </a:extLst>
          </p:cNvPr>
          <p:cNvCxnSpPr/>
          <p:nvPr/>
        </p:nvCxnSpPr>
        <p:spPr>
          <a:xfrm>
            <a:off x="10858500" y="3512820"/>
            <a:ext cx="88011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FD5EAA-4486-EC82-0A3D-D2652DE38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255" y="8896523"/>
            <a:ext cx="18606287" cy="264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0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Visual Comparison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4" name="Picture 3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BA9AAA93-BE65-CF25-20B0-7B6C9068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55" y="6858794"/>
            <a:ext cx="16483345" cy="6634082"/>
          </a:xfrm>
          <a:prstGeom prst="rect">
            <a:avLst/>
          </a:prstGeom>
        </p:spPr>
      </p:pic>
      <p:pic>
        <p:nvPicPr>
          <p:cNvPr id="3" name="Picture 2" descr="A blue line graph with black text&#10;&#10;Description automatically generated">
            <a:extLst>
              <a:ext uri="{FF2B5EF4-FFF2-40B4-BE49-F238E27FC236}">
                <a16:creationId xmlns:a16="http://schemas.microsoft.com/office/drawing/2014/main" id="{7A790971-6A2E-3A83-9B66-F813428F5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455" y="2078488"/>
            <a:ext cx="16483346" cy="449675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F62111-8963-733C-E10C-2AB9497F4A3B}"/>
              </a:ext>
            </a:extLst>
          </p:cNvPr>
          <p:cNvCxnSpPr>
            <a:cxnSpLocks/>
          </p:cNvCxnSpPr>
          <p:nvPr/>
        </p:nvCxnSpPr>
        <p:spPr>
          <a:xfrm>
            <a:off x="8366760" y="3316581"/>
            <a:ext cx="1477328" cy="7089482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EB0BAE-D0DE-33A6-1ADF-FC2E851F5EF2}"/>
              </a:ext>
            </a:extLst>
          </p:cNvPr>
          <p:cNvCxnSpPr>
            <a:cxnSpLocks/>
          </p:cNvCxnSpPr>
          <p:nvPr/>
        </p:nvCxnSpPr>
        <p:spPr>
          <a:xfrm>
            <a:off x="9748311" y="3091734"/>
            <a:ext cx="1286402" cy="5461716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912F67-DE9E-F8CC-03C5-068FE88E7067}"/>
              </a:ext>
            </a:extLst>
          </p:cNvPr>
          <p:cNvCxnSpPr>
            <a:cxnSpLocks/>
          </p:cNvCxnSpPr>
          <p:nvPr/>
        </p:nvCxnSpPr>
        <p:spPr>
          <a:xfrm>
            <a:off x="11143965" y="2972861"/>
            <a:ext cx="1090898" cy="4975752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91A793-3DB2-2EC5-D478-700E0F5F667F}"/>
              </a:ext>
            </a:extLst>
          </p:cNvPr>
          <p:cNvCxnSpPr>
            <a:cxnSpLocks/>
          </p:cNvCxnSpPr>
          <p:nvPr/>
        </p:nvCxnSpPr>
        <p:spPr>
          <a:xfrm>
            <a:off x="12559845" y="2848253"/>
            <a:ext cx="858975" cy="4496754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139;g22e116b9c75_0_8">
            <a:extLst>
              <a:ext uri="{FF2B5EF4-FFF2-40B4-BE49-F238E27FC236}">
                <a16:creationId xmlns:a16="http://schemas.microsoft.com/office/drawing/2014/main" id="{C4605935-E1E8-4BD3-07BD-A0DF59B5E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3316581"/>
            <a:ext cx="6378876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r>
              <a:rPr lang="en-US" sz="3200" dirty="0"/>
              <a:t>Retain only first peak amplitudes</a:t>
            </a:r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 panose="020B0604020202020204" pitchFamily="34" charset="0"/>
              <a:buChar char="•"/>
            </a:pPr>
            <a:r>
              <a:rPr lang="en-US" sz="3200" dirty="0"/>
              <a:t>Reduces resources</a:t>
            </a:r>
          </a:p>
          <a:p>
            <a:pPr marL="48895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Arial" panose="020B0604020202020204" pitchFamily="34" charset="0"/>
              <a:buChar char="•"/>
            </a:pPr>
            <a:r>
              <a:rPr lang="en-US" sz="3200" dirty="0"/>
              <a:t>Focuses model to improve performance</a:t>
            </a:r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  <a:p>
            <a:pPr marL="31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812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Visual Comparison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4" name="Picture 3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BA9AAA93-BE65-CF25-20B0-7B6C9068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120" y="6858794"/>
            <a:ext cx="16483345" cy="6634082"/>
          </a:xfrm>
          <a:prstGeom prst="rect">
            <a:avLst/>
          </a:prstGeom>
        </p:spPr>
      </p:pic>
      <p:pic>
        <p:nvPicPr>
          <p:cNvPr id="3" name="Picture 2" descr="A blue line graph with black text&#10;&#10;Description automatically generated">
            <a:extLst>
              <a:ext uri="{FF2B5EF4-FFF2-40B4-BE49-F238E27FC236}">
                <a16:creationId xmlns:a16="http://schemas.microsoft.com/office/drawing/2014/main" id="{7A790971-6A2E-3A83-9B66-F813428F5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120" y="2078488"/>
            <a:ext cx="16483345" cy="449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8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Detection Models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Google Shape;163;p5">
            <a:extLst>
              <a:ext uri="{FF2B5EF4-FFF2-40B4-BE49-F238E27FC236}">
                <a16:creationId xmlns:a16="http://schemas.microsoft.com/office/drawing/2014/main" id="{0B8F44A1-89C7-4B53-1421-92766A7A5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2921794"/>
            <a:ext cx="21032787" cy="11123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</a:pPr>
            <a:r>
              <a:rPr lang="en-US" sz="3600" dirty="0"/>
              <a:t>K-NN</a:t>
            </a:r>
          </a:p>
          <a:p>
            <a:pPr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r>
              <a:rPr lang="en-US" sz="3600" dirty="0"/>
              <a:t>lazy-learning</a:t>
            </a:r>
          </a:p>
          <a:p>
            <a:pPr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r>
              <a:rPr lang="en-US" sz="3600" dirty="0"/>
              <a:t>Simple</a:t>
            </a:r>
          </a:p>
          <a:p>
            <a:pPr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r>
              <a:rPr lang="en-US" sz="3600" dirty="0"/>
              <a:t>Decision based on the Euclidean Distance of the kth neighbor to the baseline.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ts val="3300"/>
              <a:buFont typeface="Calibri" panose="020F0502020204030204" pitchFamily="34" charset="0"/>
              <a:buChar char="●"/>
            </a:pPr>
            <a:r>
              <a:rPr lang="en-US" sz="3600" dirty="0"/>
              <a:t>Low distance score = Normal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ts val="3300"/>
              <a:buFont typeface="Calibri" panose="020F0502020204030204" pitchFamily="34" charset="0"/>
              <a:buChar char="●"/>
            </a:pPr>
            <a:r>
              <a:rPr lang="en-US" sz="3600" dirty="0"/>
              <a:t>High distance score = Anomalous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3300"/>
              <a:buNone/>
            </a:pPr>
            <a:endParaRPr lang="en-US" sz="3600" dirty="0"/>
          </a:p>
          <a:p>
            <a:pPr marL="0" indent="0">
              <a:lnSpc>
                <a:spcPct val="150000"/>
              </a:lnSpc>
            </a:pPr>
            <a:r>
              <a:rPr lang="en-US" sz="3600" dirty="0"/>
              <a:t>Autoencoder</a:t>
            </a:r>
          </a:p>
          <a:p>
            <a:pPr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r>
              <a:rPr lang="en-US" sz="3600" dirty="0"/>
              <a:t>Dimensionality reduction</a:t>
            </a:r>
          </a:p>
          <a:p>
            <a:pPr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r>
              <a:rPr lang="en-US" sz="3600" dirty="0"/>
              <a:t>Decision based on reconstruction error, (mean square error between the input and output)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600" dirty="0"/>
              <a:t>Low reconstruction error = Normal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600" dirty="0"/>
              <a:t>High reconstruction error = Anomalous</a:t>
            </a:r>
          </a:p>
          <a:p>
            <a:pPr lvl="1"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1983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Anomaly Detection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06759-6E74-25F1-8CB9-8737C11A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93" y="3115469"/>
            <a:ext cx="22087891" cy="71429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8F156A-66BD-63E7-02B7-2FD9C8173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93" y="3101396"/>
            <a:ext cx="22087891" cy="715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1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1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7200" dirty="0"/>
              <a:t>Q1: What is the performance of traditional methods?</a:t>
            </a:r>
            <a:endParaRPr sz="7200"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391D84-99F5-C07C-12F0-A30B34133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880" y="2045997"/>
            <a:ext cx="7901211" cy="6045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FB8C0-98D7-633F-F51F-B43E2FF83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794" y="2045997"/>
            <a:ext cx="9025591" cy="6045283"/>
          </a:xfrm>
          <a:prstGeom prst="rect">
            <a:avLst/>
          </a:prstGeom>
        </p:spPr>
      </p:pic>
      <p:sp>
        <p:nvSpPr>
          <p:cNvPr id="7" name="Google Shape;163;p5">
            <a:extLst>
              <a:ext uri="{FF2B5EF4-FFF2-40B4-BE49-F238E27FC236}">
                <a16:creationId xmlns:a16="http://schemas.microsoft.com/office/drawing/2014/main" id="{EE43D362-453D-D412-17E3-9C4F98F3D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8524308"/>
            <a:ext cx="21032787" cy="364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Works well in low noise level environments.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Peak performance with relatively few samples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Suffers in high noise environments.</a:t>
            </a:r>
          </a:p>
          <a:p>
            <a:pPr lvl="1"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C7052-8ABF-46D1-82BA-1032C94BE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881" y="2045998"/>
            <a:ext cx="7894958" cy="60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2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17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7200" dirty="0"/>
              <a:t>Q2: Can we improve traditional methods using AEs?</a:t>
            </a:r>
            <a:endParaRPr sz="7200"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FB8C0-98D7-633F-F51F-B43E2FF8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794" y="2045997"/>
            <a:ext cx="9025591" cy="6045283"/>
          </a:xfrm>
          <a:prstGeom prst="rect">
            <a:avLst/>
          </a:prstGeom>
        </p:spPr>
      </p:pic>
      <p:sp>
        <p:nvSpPr>
          <p:cNvPr id="7" name="Google Shape;163;p5">
            <a:extLst>
              <a:ext uri="{FF2B5EF4-FFF2-40B4-BE49-F238E27FC236}">
                <a16:creationId xmlns:a16="http://schemas.microsoft.com/office/drawing/2014/main" id="{EE43D362-453D-D412-17E3-9C4F98F3D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8524308"/>
            <a:ext cx="21032787" cy="4475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Near perfect results at 25 SNR.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Outperforms k-NN at lower SNRs.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Requires large samples (2000) to reach peak performance.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en-US" sz="3600" dirty="0"/>
          </a:p>
          <a:p>
            <a:pPr lvl="1"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7C127-FAB4-9A76-9E9D-2BF1642E8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880" y="2037742"/>
            <a:ext cx="2437606" cy="6053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DB0CD-0EE8-4CAC-A381-3D2854FB1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381" y="2031021"/>
            <a:ext cx="8368004" cy="6042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7CBAF0-2494-41BD-8526-2F685BFD1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570" y="2038508"/>
            <a:ext cx="5488656" cy="602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7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07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sz="6600" dirty="0"/>
              <a:t>Q3: Can we obtain similar results using our framework?</a:t>
            </a:r>
            <a:endParaRPr sz="6600"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FB8C0-98D7-633F-F51F-B43E2FF8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794" y="2045997"/>
            <a:ext cx="9025591" cy="6045283"/>
          </a:xfrm>
          <a:prstGeom prst="rect">
            <a:avLst/>
          </a:prstGeom>
        </p:spPr>
      </p:pic>
      <p:sp>
        <p:nvSpPr>
          <p:cNvPr id="7" name="Google Shape;163;p5">
            <a:extLst>
              <a:ext uri="{FF2B5EF4-FFF2-40B4-BE49-F238E27FC236}">
                <a16:creationId xmlns:a16="http://schemas.microsoft.com/office/drawing/2014/main" id="{EE43D362-453D-D412-17E3-9C4F98F3D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8524308"/>
            <a:ext cx="21032787" cy="4475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Similar results to when training on Real EM signals.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Still outperforms k-NN at lower SNRs.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en-US" sz="3600" dirty="0"/>
              <a:t>Able to feasibly obtain large training samples.</a:t>
            </a:r>
          </a:p>
          <a:p>
            <a:pPr marL="571500" marR="0" lvl="0" indent="-571500" algn="l" rtl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en-US" sz="3600" dirty="0"/>
          </a:p>
          <a:p>
            <a:pPr lvl="1" indent="-457200">
              <a:lnSpc>
                <a:spcPct val="150000"/>
              </a:lnSpc>
              <a:buFont typeface="Calibri" panose="020F0502020204030204" pitchFamily="34" charset="0"/>
              <a:buChar char="●"/>
            </a:pPr>
            <a:endParaRPr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DB0CD-0EE8-4CAC-A381-3D2854FB1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381" y="2031021"/>
            <a:ext cx="8368004" cy="6042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118798-FBB2-60DE-74D7-E996B8E4C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138" y="2031021"/>
            <a:ext cx="2442656" cy="6066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0BE9DD-748F-EF4F-4E7D-CB3AF7E09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205" y="2031021"/>
            <a:ext cx="5492109" cy="6060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494EAE-06EE-FA97-8CC5-06D96C07A1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0381" y="2035747"/>
            <a:ext cx="8368004" cy="60378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6D9FC0-FBAD-2910-DD71-EAFBC1DB1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205" y="2031021"/>
            <a:ext cx="5474073" cy="60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5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Final Conclusions</a:t>
            </a:r>
            <a:endParaRPr dirty="0"/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" name="Google Shape;382;p21">
            <a:extLst>
              <a:ext uri="{FF2B5EF4-FFF2-40B4-BE49-F238E27FC236}">
                <a16:creationId xmlns:a16="http://schemas.microsoft.com/office/drawing/2014/main" id="{074A17AB-60A8-7226-35FA-C21CEDE07868}"/>
              </a:ext>
            </a:extLst>
          </p:cNvPr>
          <p:cNvSpPr txBox="1"/>
          <p:nvPr/>
        </p:nvSpPr>
        <p:spPr>
          <a:xfrm>
            <a:off x="1199766" y="2591594"/>
            <a:ext cx="21053100" cy="84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 pitchFamily="34" charset="0"/>
              <a:buChar char="●"/>
            </a:pPr>
            <a:r>
              <a:rPr lang="en-US" sz="4000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Our framework can generate synthetic signals that accurately approximate the real captured EM signals for a given program.</a:t>
            </a:r>
            <a:endParaRPr lang="en-US" sz="4000" dirty="0">
              <a:latin typeface="Libre Franklin" pitchFamily="2" charset="0"/>
            </a:endParaRPr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856"/>
              </a:buClr>
              <a:buSzPts val="4800"/>
              <a:buFont typeface="Calibri" panose="020F0502020204030204" pitchFamily="34" charset="0"/>
              <a:buChar char="●"/>
            </a:pPr>
            <a:endParaRPr lang="en-US" sz="4000" dirty="0">
              <a:solidFill>
                <a:schemeClr val="dk1"/>
              </a:solidFill>
              <a:latin typeface="Libre Franklin" pitchFamily="2" charset="0"/>
              <a:ea typeface="Libre Franklin"/>
              <a:cs typeface="Libre Franklin"/>
              <a:sym typeface="Libre Franklin"/>
            </a:endParaRPr>
          </a:p>
          <a:p>
            <a:pPr marL="59055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 pitchFamily="34" charset="0"/>
              <a:buChar char="●"/>
            </a:pPr>
            <a:r>
              <a:rPr lang="en-US" sz="4000" dirty="0">
                <a:solidFill>
                  <a:schemeClr val="dk1"/>
                </a:solidFill>
                <a:latin typeface="Libre Franklin" pitchFamily="2" charset="0"/>
                <a:ea typeface="Libre Franklin"/>
                <a:cs typeface="Libre Franklin"/>
                <a:sym typeface="Libre Franklin"/>
              </a:rPr>
              <a:t>The synthetic signals created from our generative model can be utilized to train an EM-based anomaly detection model to the point that it outperforms other models that were trained using real signals.</a:t>
            </a:r>
            <a:endParaRPr lang="en-US" sz="4000" dirty="0">
              <a:latin typeface="Libre Franklin" pitchFamily="2" charset="0"/>
            </a:endParaRPr>
          </a:p>
          <a:p>
            <a:pPr marL="6858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●"/>
            </a:pPr>
            <a:endParaRPr sz="4000" b="0" i="0" u="none" strike="noStrike" cap="none" dirty="0">
              <a:solidFill>
                <a:schemeClr val="dk1"/>
              </a:solidFill>
              <a:latin typeface="Libre Franklin" pitchFamily="2" charset="0"/>
              <a:ea typeface="Calibri"/>
              <a:cs typeface="Calibri"/>
              <a:sym typeface="Calibri"/>
            </a:endParaRPr>
          </a:p>
          <a:p>
            <a:pPr marL="6858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●"/>
            </a:pPr>
            <a:endParaRPr sz="4000" b="0" i="0" u="none" strike="noStrike" cap="none" dirty="0">
              <a:solidFill>
                <a:schemeClr val="dk1"/>
              </a:solidFill>
              <a:latin typeface="Libre Franklin" pitchFamily="2" charset="0"/>
              <a:ea typeface="Calibri"/>
              <a:cs typeface="Calibri"/>
              <a:sym typeface="Calibri"/>
            </a:endParaRPr>
          </a:p>
          <a:p>
            <a:pPr marL="6858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●"/>
            </a:pPr>
            <a:endParaRPr sz="4000" b="0" i="0" u="none" strike="noStrike" cap="none" dirty="0">
              <a:solidFill>
                <a:schemeClr val="dk1"/>
              </a:solidFill>
              <a:latin typeface="Libre Franklin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839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body" idx="1"/>
          </p:nvPr>
        </p:nvSpPr>
        <p:spPr>
          <a:xfrm>
            <a:off x="1219995" y="2439194"/>
            <a:ext cx="21032787" cy="1311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0100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Transfer learning methods for accounting for changes in EM-probe, type of EM-probe, or device model.</a:t>
            </a:r>
          </a:p>
          <a:p>
            <a:pPr marL="1257300" lvl="1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Domain adaptation</a:t>
            </a:r>
          </a:p>
          <a:p>
            <a:pPr marL="685800" lvl="1" indent="0">
              <a:lnSpc>
                <a:spcPct val="150000"/>
              </a:lnSpc>
              <a:buSzPct val="100000"/>
              <a:buNone/>
            </a:pPr>
            <a:endParaRPr lang="en-US" sz="3200" dirty="0"/>
          </a:p>
          <a:p>
            <a:pPr marL="800100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Different generative models for EM synthesis.</a:t>
            </a:r>
          </a:p>
          <a:p>
            <a:pPr marL="1257300" lvl="1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Transformers</a:t>
            </a:r>
          </a:p>
          <a:p>
            <a:pPr marL="1257300" lvl="1" indent="-5715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Denoise Diffusion</a:t>
            </a:r>
          </a:p>
          <a:p>
            <a:pPr marL="1257300" lvl="1" indent="-571500">
              <a:lnSpc>
                <a:spcPct val="150000"/>
              </a:lnSpc>
              <a:spcBef>
                <a:spcPts val="0"/>
              </a:spcBef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Space State Models (SSM) with in Deep Learning</a:t>
            </a:r>
          </a:p>
          <a:p>
            <a:pPr marL="800100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endParaRPr lang="en-US" sz="3200" dirty="0"/>
          </a:p>
          <a:p>
            <a:pPr marL="800100" indent="-571500">
              <a:lnSpc>
                <a:spcPct val="15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Feature Engineering</a:t>
            </a:r>
          </a:p>
          <a:p>
            <a:pPr marL="1257300" lvl="1" indent="-571500">
              <a:lnSpc>
                <a:spcPct val="10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Improve generative performance.</a:t>
            </a:r>
          </a:p>
          <a:p>
            <a:pPr marL="1714500" lvl="2" indent="-571500">
              <a:lnSpc>
                <a:spcPct val="10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Instruction + Input values</a:t>
            </a:r>
          </a:p>
          <a:p>
            <a:pPr marL="2171700" lvl="3" indent="-571500">
              <a:lnSpc>
                <a:spcPct val="100000"/>
              </a:lnSpc>
              <a:buSzPct val="100000"/>
              <a:buFont typeface="Calibri" panose="020F0502020204030204" pitchFamily="34" charset="0"/>
              <a:buChar char="●"/>
            </a:pPr>
            <a:r>
              <a:rPr lang="en-US" sz="3200" dirty="0"/>
              <a:t>X2 improvement on fidelity (half the Euclidean distance)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2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200" dirty="0"/>
          </a:p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endParaRPr sz="3200" dirty="0"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146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Future works</a:t>
            </a:r>
            <a:endParaRPr dirty="0"/>
          </a:p>
        </p:txBody>
      </p:sp>
      <p:sp>
        <p:nvSpPr>
          <p:cNvPr id="165" name="Google Shape;165;p5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83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>
            <a:spLocks noGrp="1"/>
          </p:cNvSpPr>
          <p:nvPr>
            <p:ph type="title"/>
          </p:nvPr>
        </p:nvSpPr>
        <p:spPr>
          <a:xfrm>
            <a:off x="1219994" y="610394"/>
            <a:ext cx="21032700" cy="2936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Franklin Gothic"/>
              <a:buNone/>
            </a:pPr>
            <a:r>
              <a:rPr lang="en-US" dirty="0"/>
              <a:t>Thank you for your attention.</a:t>
            </a:r>
            <a:br>
              <a:rPr lang="en-US" dirty="0"/>
            </a:br>
            <a:r>
              <a:rPr lang="en-US" dirty="0"/>
              <a:t>Questions?</a:t>
            </a:r>
            <a:endParaRPr dirty="0"/>
          </a:p>
        </p:txBody>
      </p:sp>
      <p:sp>
        <p:nvSpPr>
          <p:cNvPr id="398" name="Google Shape;398;p23"/>
          <p:cNvSpPr txBox="1">
            <a:spLocks noGrp="1"/>
          </p:cNvSpPr>
          <p:nvPr>
            <p:ph type="sldNum" idx="12"/>
          </p:nvPr>
        </p:nvSpPr>
        <p:spPr>
          <a:xfrm>
            <a:off x="22819564" y="12667723"/>
            <a:ext cx="1463400" cy="1050000"/>
          </a:xfrm>
          <a:prstGeom prst="rect">
            <a:avLst/>
          </a:prstGeom>
        </p:spPr>
        <p:txBody>
          <a:bodyPr spcFirstLastPara="1" wrap="square" lIns="223500" tIns="223500" rIns="223500" bIns="2235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" name="Google Shape;163;p5">
            <a:extLst>
              <a:ext uri="{FF2B5EF4-FFF2-40B4-BE49-F238E27FC236}">
                <a16:creationId xmlns:a16="http://schemas.microsoft.com/office/drawing/2014/main" id="{C498BC6C-E521-A930-DB36-7930A32FB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994" y="4115594"/>
            <a:ext cx="21032787" cy="46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0"/>
            <a:r>
              <a:rPr lang="en-US" sz="3200" dirty="0"/>
              <a:t>From Code to EM Signals: A Generative Approach to Side Channel Analysis-based Anomaly Detection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 dirty="0"/>
              <a:t>Speaker: Kurt </a:t>
            </a:r>
            <a:r>
              <a:rPr lang="en-US" sz="3200" dirty="0" err="1"/>
              <a:t>Vedros</a:t>
            </a:r>
            <a:endParaRPr lang="en-US" sz="320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 dirty="0"/>
              <a:t>Email: kvedros@uidaho.edu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2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200" dirty="0"/>
          </a:p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AE4032-1AFE-42B4-BE90-07181CB69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794" y="5198409"/>
            <a:ext cx="7076281" cy="7908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7753</TotalTime>
  <Words>845</Words>
  <Application>Microsoft Office PowerPoint</Application>
  <PresentationFormat>Custom</PresentationFormat>
  <Paragraphs>192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Franklin Gothic</vt:lpstr>
      <vt:lpstr>Arial</vt:lpstr>
      <vt:lpstr>Libre Franklin</vt:lpstr>
      <vt:lpstr>Archivo</vt:lpstr>
      <vt:lpstr>Proxima Nova</vt:lpstr>
      <vt:lpstr>Calibri</vt:lpstr>
      <vt:lpstr>Noto Sans Symbols</vt:lpstr>
      <vt:lpstr>Title Slides</vt:lpstr>
      <vt:lpstr>Text Slides</vt:lpstr>
      <vt:lpstr>From Code to EM Signals: A Generative Approach to Side Channel Analysis-based Anomaly Detection</vt:lpstr>
      <vt:lpstr>Side-Channel Analysis for Anomaly Detection</vt:lpstr>
      <vt:lpstr>Morphology of EM Signals from Embedded Devices</vt:lpstr>
      <vt:lpstr>Test Bed</vt:lpstr>
      <vt:lpstr>Challenges of EM-based Side-Channel Analysis</vt:lpstr>
      <vt:lpstr>Challenges of EM-based Side-Channel Analysis</vt:lpstr>
      <vt:lpstr>Challenges of EM-based Side-Channel Analysis</vt:lpstr>
      <vt:lpstr>Challenges of EM-based Side-Channel Analysis</vt:lpstr>
      <vt:lpstr>Code-to-EM Signal Synthesis using GANs</vt:lpstr>
      <vt:lpstr>Workflow for EM-based anomaly detection</vt:lpstr>
      <vt:lpstr>Complicated due to Active Device State</vt:lpstr>
      <vt:lpstr>Accounting for Active Device State</vt:lpstr>
      <vt:lpstr>Accounting for Active Device State</vt:lpstr>
      <vt:lpstr>Programs</vt:lpstr>
      <vt:lpstr>Evaluation of Fidelity</vt:lpstr>
      <vt:lpstr>Evaluation for Anomaly Detection</vt:lpstr>
      <vt:lpstr>Visual Comparison</vt:lpstr>
      <vt:lpstr>Visual Comparison</vt:lpstr>
      <vt:lpstr>Detection Models</vt:lpstr>
      <vt:lpstr>Anomaly Detection</vt:lpstr>
      <vt:lpstr>Q1: What is the performance of traditional methods?</vt:lpstr>
      <vt:lpstr>Q2: Can we improve traditional methods using AEs?</vt:lpstr>
      <vt:lpstr>Q3: Can we obtain similar results using our framework?</vt:lpstr>
      <vt:lpstr>Final Conclusions</vt:lpstr>
      <vt:lpstr>Future works</vt:lpstr>
      <vt:lpstr>Thank you for your attention.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EM-Based Anomaly Detection using Generative Adversarial Networks</dc:title>
  <dc:creator>Vedros, Kurt (kvedros@uidaho.edu)</dc:creator>
  <cp:lastModifiedBy>Kurt Vedros</cp:lastModifiedBy>
  <cp:revision>51</cp:revision>
  <cp:lastPrinted>2023-04-17T13:29:05Z</cp:lastPrinted>
  <dcterms:created xsi:type="dcterms:W3CDTF">2023-04-03T15:46:23Z</dcterms:created>
  <dcterms:modified xsi:type="dcterms:W3CDTF">2024-09-26T22:07:16Z</dcterms:modified>
</cp:coreProperties>
</file>